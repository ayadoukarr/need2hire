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51BA"/>
                </a:solidFill>
              </a:defRPr>
            </a:pPr>
            <a:r>
              <a:t>IA DE QUALIFICATION DU BESOIN DE RECRUTEMENT</a:t>
            </a:r>
          </a:p>
          <a:p>
            <a:pPr algn="ctr">
              <a:defRPr sz="1800">
                <a:solidFill>
                  <a:srgbClr val="2C2C2C"/>
                </a:solidFill>
              </a:defRPr>
            </a:pPr>
            <a:r>
              <a:t>SQORUS | IA RH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RÉSUMÉ EXÉCUTIF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400"/>
            </a:pPr>
            <a:r>
              <a:t>Problème métier</a:t>
            </a:r>
          </a:p>
          <a:p>
            <a:pPr>
              <a:spcBef>
                <a:spcPts val="400"/>
              </a:spcBef>
              <a:defRPr sz="1400"/>
            </a:pPr>
            <a:r>
              <a:t>Transformer les demandes de recrutement vague des managers en fiches de poste structurées et exploitables</a:t>
            </a:r>
          </a:p>
          <a:p>
            <a:pPr>
              <a:spcBef>
                <a:spcPts val="400"/>
              </a:spcBef>
              <a:defRPr sz="1400"/>
            </a:pPr>
            <a:r>
              <a:t>Eliminar les aller-retour entre RH et managers (délai typique : 2 à 3 semaines)</a:t>
            </a:r>
          </a:p>
          <a:p>
            <a:pPr>
              <a:spcBef>
                <a:spcPts val="400"/>
              </a:spcBef>
              <a:defRPr sz="1400"/>
            </a:pPr>
            <a:r>
              <a:t>Standardiser les fiches de poste selon le format et la taxonomie AXA</a:t>
            </a:r>
          </a:p>
          <a:p>
            <a:pPr>
              <a:spcBef>
                <a:spcPts val="400"/>
              </a:spcBef>
              <a:defRPr sz="1400"/>
            </a:pPr>
            <a:r>
              <a:t>Permettre un screening objectif des candidats avec des critères d'évaluation clairs</a:t>
            </a:r>
          </a:p>
          <a:p>
            <a:pPr>
              <a:spcBef>
                <a:spcPts val="400"/>
              </a:spcBef>
              <a:defRPr sz="1400"/>
            </a:pPr>
            <a:r>
              <a:t>Objectif de l'application</a:t>
            </a:r>
          </a:p>
          <a:p>
            <a:pPr>
              <a:spcBef>
                <a:spcPts val="400"/>
              </a:spcBef>
              <a:defRPr sz="1400"/>
            </a:pPr>
            <a:r>
              <a:t>Transformer un besoin exprimé en naturel langage en une fiche de poste AXA prête à l'emploi</a:t>
            </a:r>
          </a:p>
          <a:p>
            <a:pPr>
              <a:spcBef>
                <a:spcPts val="400"/>
              </a:spcBef>
              <a:defRPr sz="1400"/>
            </a:pPr>
            <a:r>
              <a:t>Identifier les informations manquantes et les termes flous</a:t>
            </a:r>
          </a:p>
          <a:p>
            <a:pPr>
              <a:spcBef>
                <a:spcPts val="400"/>
              </a:spcBef>
              <a:defRPr sz="1400"/>
            </a:pPr>
            <a:r>
              <a:t>Générer des critères de screening et des questions d'entretien</a:t>
            </a:r>
          </a:p>
          <a:p>
            <a:pPr>
              <a:spcBef>
                <a:spcPts val="400"/>
              </a:spcBef>
              <a:defRPr sz="1400"/>
            </a:pPr>
            <a:r>
              <a:t>Qualifier le besoin avec un score de maturité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CONTEXTE ET ENJEUX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400"/>
            </a:pPr>
            <a:r>
              <a:t>Problèmes liés aux besoins de recrutement mal définis</a:t>
            </a:r>
          </a:p>
          <a:p>
            <a:pPr>
              <a:spcBef>
                <a:spcPts val="400"/>
              </a:spcBef>
              <a:defRPr sz="1400"/>
            </a:pPr>
            <a:r>
              <a:t>Les managers expriment leur besoin de manière imprecise ("Nous cherchons un bon profil data")</a:t>
            </a:r>
          </a:p>
          <a:p>
            <a:pPr>
              <a:spcBef>
                <a:spcPts val="400"/>
              </a:spcBef>
              <a:defRPr sz="1400"/>
            </a:pPr>
            <a:r>
              <a:t>Manque de precision sur les competencies, l'experience requise, les missions</a:t>
            </a:r>
          </a:p>
          <a:p>
            <a:pPr>
              <a:spcBef>
                <a:spcPts val="400"/>
              </a:spcBef>
              <a:defRPr sz="1400"/>
            </a:pPr>
            <a:r>
              <a:t>Terminologie floue et subjective ("junior", "senior", "autonome")</a:t>
            </a:r>
          </a:p>
          <a:p>
            <a:pPr>
              <a:spcBef>
                <a:spcPts val="400"/>
              </a:spcBef>
              <a:defRPr sz="1400"/>
            </a:pPr>
            <a:r>
              <a:t>Absence de critères objectifs pour évaluer les candidats</a:t>
            </a:r>
          </a:p>
          <a:p>
            <a:pPr>
              <a:spcBef>
                <a:spcPts val="400"/>
              </a:spcBef>
              <a:defRPr sz="1400"/>
            </a:pPr>
            <a:r>
              <a:t>Impact côté RH</a:t>
            </a:r>
          </a:p>
          <a:p>
            <a:pPr>
              <a:spcBef>
                <a:spcPts val="400"/>
              </a:spcBef>
              <a:defRPr sz="1400"/>
            </a:pPr>
            <a:r>
              <a:t>Difficulté à comprendre le vrai besoin du manager</a:t>
            </a:r>
          </a:p>
          <a:p>
            <a:pPr>
              <a:spcBef>
                <a:spcPts val="400"/>
              </a:spcBef>
              <a:defRPr sz="1400"/>
            </a:pPr>
            <a:r>
              <a:t>Performance tiempo excessive pour qualifié le besoin (2-3 semaines)</a:t>
            </a:r>
          </a:p>
          <a:p>
            <a:pPr>
              <a:spcBef>
                <a:spcPts val="400"/>
              </a:spcBef>
              <a:defRPr sz="1400"/>
            </a:pPr>
            <a:r>
              <a:t>Risque de mauvais screening et de candidats non adapter</a:t>
            </a:r>
          </a:p>
          <a:p>
            <a:pPr>
              <a:spcBef>
                <a:spcPts val="400"/>
              </a:spcBef>
              <a:defRPr sz="1400"/>
            </a:pPr>
            <a:r>
              <a:t>Incohérence avec la taxonomie métier du groupe</a:t>
            </a:r>
          </a:p>
          <a:p>
            <a:pPr>
              <a:spcBef>
                <a:spcPts val="400"/>
              </a:spcBef>
              <a:defRPr sz="1400"/>
            </a:pPr>
            <a:r>
              <a:t>Impact côté managers</a:t>
            </a:r>
          </a:p>
          <a:p>
            <a:pPr>
              <a:spcBef>
                <a:spcPts val="400"/>
              </a:spcBef>
              <a:defRPr sz="1400"/>
            </a:pPr>
            <a:r>
              <a:t>Diffculté à exprimer clairement leur besoin</a:t>
            </a:r>
          </a:p>
          <a:p>
            <a:pPr>
              <a:spcBef>
                <a:spcPts val="400"/>
              </a:spcBef>
              <a:defRPr sz="1400"/>
            </a:pPr>
            <a:r>
              <a:t>Echanges multiples pour préciser les informations</a:t>
            </a:r>
          </a:p>
          <a:p>
            <a:pPr>
              <a:spcBef>
                <a:spcPts val="400"/>
              </a:spcBef>
              <a:defRPr sz="1400"/>
            </a:pPr>
            <a:r>
              <a:t>Delai avant d'avoir une fiche de poste utilisable</a:t>
            </a:r>
          </a:p>
          <a:p>
            <a:pPr>
              <a:spcBef>
                <a:spcPts val="400"/>
              </a:spcBef>
              <a:defRPr sz="1400"/>
            </a:pPr>
            <a:r>
              <a:t>Incertitude sur la qualité du profil retenu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PRÉSENTATION DE LA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400"/>
            </a:pPr>
            <a:r>
              <a:t>Ce que fait l'application</a:t>
            </a:r>
          </a:p>
          <a:p>
            <a:pPr>
              <a:spcBef>
                <a:spcPts val="400"/>
              </a:spcBef>
              <a:defRPr sz="1400"/>
            </a:pPr>
            <a:r>
              <a:t>Entrée : besoin en texte libre, audio ou fichier existant</a:t>
            </a:r>
          </a:p>
          <a:p>
            <a:pPr>
              <a:spcBef>
                <a:spcPts val="400"/>
              </a:spcBef>
              <a:defRPr sz="1400"/>
            </a:pPr>
            <a:r>
              <a:t>Traitement : analyse multi-étapes avec agentes IA spécialisés</a:t>
            </a:r>
          </a:p>
          <a:p>
            <a:pPr>
              <a:spcBef>
                <a:spcPts val="400"/>
              </a:spcBef>
              <a:defRPr sz="1400"/>
            </a:pPr>
            <a:r>
              <a:t>Sortie : fiche de poste structurée, score de qualification, critères de screening</a:t>
            </a:r>
          </a:p>
          <a:p>
            <a:pPr>
              <a:spcBef>
                <a:spcPts val="400"/>
              </a:spcBef>
              <a:defRPr sz="1400"/>
            </a:pPr>
            <a:r>
              <a:t>Valeur apportée</a:t>
            </a:r>
          </a:p>
          <a:p>
            <a:pPr>
              <a:spcBef>
                <a:spcPts val="400"/>
              </a:spcBef>
              <a:defRPr sz="1400"/>
            </a:pPr>
            <a:r>
              <a:t>Réduction du temps de qualification de 40-60%</a:t>
            </a:r>
          </a:p>
          <a:p>
            <a:pPr>
              <a:spcBef>
                <a:spcPts val="400"/>
              </a:spcBef>
              <a:defRPr sz="1400"/>
            </a:pPr>
            <a:r>
              <a:t>Standardisation automatique selon le format AXA</a:t>
            </a:r>
          </a:p>
          <a:p>
            <a:pPr>
              <a:spcBef>
                <a:spcPts val="400"/>
              </a:spcBef>
              <a:defRPr sz="1400"/>
            </a:pPr>
            <a:r>
              <a:t>Critères objectifs pour le screening des CV</a:t>
            </a:r>
          </a:p>
          <a:p>
            <a:pPr>
              <a:spcBef>
                <a:spcPts val="400"/>
              </a:spcBef>
              <a:defRPr sz="1400"/>
            </a:pPr>
            <a:r>
              <a:t>Amélioration de la qualité des candidatures</a:t>
            </a:r>
          </a:p>
          <a:p>
            <a:pPr>
              <a:spcBef>
                <a:spcPts val="400"/>
              </a:spcBef>
              <a:defRPr sz="1400"/>
            </a:pPr>
            <a:r>
              <a:t>Décision éclairée pour les équipes RH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PARCOURS FONCTIONNEL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500" b="1">
                <a:solidFill>
                  <a:srgbClr val="2C2C2C"/>
                </a:solidFill>
              </a:defRPr>
            </a:pPr>
            <a:r>
              <a:t>1. Saisie du besoin</a:t>
            </a:r>
          </a:p>
          <a:p>
            <a:pPr>
              <a:spcBef>
                <a:spcPts val="1000"/>
              </a:spcBef>
              <a:defRPr sz="1500" b="1">
                <a:solidFill>
                  <a:srgbClr val="2C2C2C"/>
                </a:solidFill>
              </a:defRPr>
            </a:pPr>
            <a:r>
              <a:t>2. Validation</a:t>
            </a:r>
          </a:p>
          <a:p>
            <a:pPr>
              <a:spcBef>
                <a:spcPts val="1000"/>
              </a:spcBef>
              <a:defRPr sz="1500" b="1">
                <a:solidFill>
                  <a:srgbClr val="2C2C2C"/>
                </a:solidFill>
              </a:defRPr>
            </a:pPr>
            <a:r>
              <a:t>3. Analyse</a:t>
            </a:r>
          </a:p>
          <a:p>
            <a:pPr>
              <a:spcBef>
                <a:spcPts val="1000"/>
              </a:spcBef>
              <a:defRPr sz="1500" b="1">
                <a:solidFill>
                  <a:srgbClr val="2C2C2C"/>
                </a:solidFill>
              </a:defRPr>
            </a:pPr>
            <a:r>
              <a:t>4. Génération de la fiche de poste</a:t>
            </a:r>
          </a:p>
          <a:p>
            <a:pPr>
              <a:spcBef>
                <a:spcPts val="1000"/>
              </a:spcBef>
              <a:defRPr sz="1500" b="1">
                <a:solidFill>
                  <a:srgbClr val="2C2C2C"/>
                </a:solidFill>
              </a:defRPr>
            </a:pPr>
            <a:r>
              <a:t>5. Scoring</a:t>
            </a:r>
          </a:p>
          <a:p>
            <a:pPr>
              <a:spcBef>
                <a:spcPts val="1000"/>
              </a:spcBef>
              <a:defRPr sz="1500" b="1">
                <a:solidFill>
                  <a:srgbClr val="2C2C2C"/>
                </a:solidFill>
              </a:defRPr>
            </a:pPr>
            <a:r>
              <a:t>6. Restitution</a:t>
            </a:r>
          </a:p>
          <a:p>
            <a:pPr>
              <a:spcBef>
                <a:spcPts val="400"/>
              </a:spcBef>
              <a:defRPr sz="1400"/>
            </a:pPr>
            <a:r>
              <a:t>Texte libre (langage naturel)</a:t>
            </a:r>
          </a:p>
          <a:p>
            <a:pPr>
              <a:spcBef>
                <a:spcPts val="400"/>
              </a:spcBef>
              <a:defRPr sz="1400"/>
            </a:pPr>
            <a:r>
              <a:t>Audio (enregistrement vocal)</a:t>
            </a:r>
          </a:p>
          <a:p>
            <a:pPr>
              <a:spcBef>
                <a:spcPts val="400"/>
              </a:spcBef>
              <a:defRPr sz="1400"/>
            </a:pPr>
            <a:r>
              <a:t>Fichier (fiche existante)</a:t>
            </a:r>
          </a:p>
          <a:p>
            <a:pPr>
              <a:spcBef>
                <a:spcPts val="400"/>
              </a:spcBef>
              <a:defRPr sz="1400"/>
            </a:pPr>
            <a:r>
              <a:t>Vérification de la longueur minimale</a:t>
            </a:r>
          </a:p>
          <a:p>
            <a:pPr>
              <a:spcBef>
                <a:spcPts val="400"/>
              </a:spcBef>
              <a:defRPr sz="1400"/>
            </a:pPr>
            <a:r>
              <a:t>Consolidation des informations</a:t>
            </a:r>
          </a:p>
          <a:p>
            <a:pPr>
              <a:spcBef>
                <a:spcPts val="400"/>
              </a:spcBef>
              <a:defRPr sz="1400"/>
            </a:pPr>
            <a:r>
              <a:t>Détection de la famille métier (45 familles)</a:t>
            </a:r>
          </a:p>
          <a:p>
            <a:pPr>
              <a:spcBef>
                <a:spcPts val="400"/>
              </a:spcBef>
              <a:defRPr sz="1400"/>
            </a:pPr>
            <a:r>
              <a:t>Détection de la sous-famille</a:t>
            </a:r>
          </a:p>
          <a:p>
            <a:pPr>
              <a:spcBef>
                <a:spcPts val="400"/>
              </a:spcBef>
              <a:defRPr sz="1400"/>
            </a:pPr>
            <a:r>
              <a:t>Identification des termes flous</a:t>
            </a:r>
          </a:p>
          <a:p>
            <a:pPr>
              <a:spcBef>
                <a:spcPts val="400"/>
              </a:spcBef>
              <a:defRPr sz="1400"/>
            </a:pPr>
            <a:r>
              <a:t>Détection des informations manquantes</a:t>
            </a:r>
          </a:p>
          <a:p>
            <a:pPr>
              <a:spcBef>
                <a:spcPts val="400"/>
              </a:spcBef>
              <a:defRPr sz="1400"/>
            </a:pPr>
            <a:r>
              <a:t>Structure AXA (10+ champs)</a:t>
            </a:r>
          </a:p>
          <a:p>
            <a:pPr>
              <a:spcBef>
                <a:spcPts val="400"/>
              </a:spcBef>
              <a:defRPr sz="1400"/>
            </a:pPr>
            <a:r>
              <a:t>Critères d'évaluation</a:t>
            </a:r>
          </a:p>
          <a:p>
            <a:pPr>
              <a:spcBef>
                <a:spcPts val="400"/>
              </a:spcBef>
              <a:defRPr sz="1400"/>
            </a:pPr>
            <a:r>
              <a:t>Questions d'entretien</a:t>
            </a:r>
          </a:p>
          <a:p>
            <a:pPr>
              <a:spcBef>
                <a:spcPts val="400"/>
              </a:spcBef>
              <a:defRPr sz="1400"/>
            </a:pPr>
            <a:r>
              <a:t>Risques détectés</a:t>
            </a:r>
          </a:p>
          <a:p>
            <a:pPr>
              <a:spcBef>
                <a:spcPts val="400"/>
              </a:spcBef>
              <a:defRPr sz="1400"/>
            </a:pPr>
            <a:r>
              <a:t>Score global sur 100</a:t>
            </a:r>
          </a:p>
          <a:p>
            <a:pPr>
              <a:spcBef>
                <a:spcPts val="400"/>
              </a:spcBef>
              <a:defRPr sz="1400"/>
            </a:pPr>
            <a:r>
              <a:t>Niveau de confiance (25-95%)</a:t>
            </a:r>
          </a:p>
          <a:p>
            <a:pPr>
              <a:spcBef>
                <a:spcPts val="400"/>
              </a:spcBef>
              <a:defRPr sz="1400"/>
            </a:pPr>
            <a:r>
              <a:t>Recommandations</a:t>
            </a:r>
          </a:p>
          <a:p>
            <a:pPr>
              <a:spcBef>
                <a:spcPts val="400"/>
              </a:spcBef>
              <a:defRPr sz="1400"/>
            </a:pPr>
            <a:r>
              <a:t>Fiche de poste AXA</a:t>
            </a:r>
          </a:p>
          <a:p>
            <a:pPr>
              <a:spcBef>
                <a:spcPts val="400"/>
              </a:spcBef>
              <a:defRPr sz="1400"/>
            </a:pPr>
            <a:r>
              <a:t>Brief recruiter</a:t>
            </a:r>
          </a:p>
          <a:p>
            <a:pPr>
              <a:spcBef>
                <a:spcPts val="400"/>
              </a:spcBef>
              <a:defRPr sz="1400"/>
            </a:pPr>
            <a:r>
              <a:t>Rapport de qualification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ARCHITECTURE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500" b="1">
                <a:solidFill>
                  <a:srgbClr val="2C2C2C"/>
                </a:solidFill>
              </a:defRPr>
            </a:pPr>
            <a:r>
              <a:t>1. Couche UI (app.py)</a:t>
            </a:r>
          </a:p>
          <a:p>
            <a:pPr>
              <a:spcBef>
                <a:spcPts val="1000"/>
              </a:spcBef>
              <a:defRPr sz="1500" b="1">
                <a:solidFill>
                  <a:srgbClr val="2C2C2C"/>
                </a:solidFill>
              </a:defRPr>
            </a:pPr>
            <a:r>
              <a:t>2. Couche Orchestration (orchestration/pipeline.py)</a:t>
            </a:r>
          </a:p>
          <a:p>
            <a:pPr>
              <a:spcBef>
                <a:spcPts val="1000"/>
              </a:spcBef>
              <a:defRPr sz="1500" b="1">
                <a:solidFill>
                  <a:srgbClr val="2C2C2C"/>
                </a:solidFill>
              </a:defRPr>
            </a:pPr>
            <a:r>
              <a:t>3. Couche Agents (agents/)</a:t>
            </a:r>
          </a:p>
          <a:p>
            <a:pPr>
              <a:spcBef>
                <a:spcPts val="1000"/>
              </a:spcBef>
              <a:defRPr sz="1500" b="1">
                <a:solidFill>
                  <a:srgbClr val="2C2C2C"/>
                </a:solidFill>
              </a:defRPr>
            </a:pPr>
            <a:r>
              <a:t>4. Couche Métier (domain/)</a:t>
            </a:r>
          </a:p>
          <a:p>
            <a:pPr>
              <a:spcBef>
                <a:spcPts val="1000"/>
              </a:spcBef>
              <a:defRPr sz="1500" b="1">
                <a:solidFill>
                  <a:srgbClr val="2C2C2C"/>
                </a:solidFill>
              </a:defRPr>
            </a:pPr>
            <a:r>
              <a:t>5. Couche Validation (validation/)</a:t>
            </a:r>
          </a:p>
          <a:p>
            <a:pPr>
              <a:spcBef>
                <a:spcPts val="1000"/>
              </a:spcBef>
              <a:defRPr sz="1500" b="1">
                <a:solidFill>
                  <a:srgbClr val="2C2C2C"/>
                </a:solidFill>
              </a:defRPr>
            </a:pPr>
            <a:r>
              <a:t>6. Couche Services (services/)</a:t>
            </a:r>
          </a:p>
          <a:p>
            <a:pPr>
              <a:spcBef>
                <a:spcPts val="1000"/>
              </a:spcBef>
              <a:defRPr sz="1500" b="1">
                <a:solidFill>
                  <a:srgbClr val="2C2C2C"/>
                </a:solidFill>
              </a:defRPr>
            </a:pPr>
            <a:r>
              <a:t>7. Couche Données (data/)</a:t>
            </a:r>
          </a:p>
          <a:p>
            <a:pPr>
              <a:spcBef>
                <a:spcPts val="400"/>
              </a:spcBef>
              <a:defRPr sz="1400"/>
            </a:pPr>
            <a:r>
              <a:t>Interface Streamlit</a:t>
            </a:r>
          </a:p>
          <a:p>
            <a:pPr>
              <a:spcBef>
                <a:spcPts val="400"/>
              </a:spcBef>
              <a:defRPr sz="1400"/>
            </a:pPr>
            <a:r>
              <a:t>Gestion des entrées utilisateur</a:t>
            </a:r>
          </a:p>
          <a:p>
            <a:pPr>
              <a:spcBef>
                <a:spcPts val="400"/>
              </a:spcBef>
              <a:defRPr sz="1400"/>
            </a:pPr>
            <a:r>
              <a:t>Affichage des résultats</a:t>
            </a:r>
          </a:p>
          <a:p>
            <a:pPr>
              <a:spcBef>
                <a:spcPts val="400"/>
              </a:spcBef>
              <a:defRPr sz="1400"/>
            </a:pPr>
            <a:r>
              <a:t>Gestion de l'état de session</a:t>
            </a:r>
          </a:p>
          <a:p>
            <a:pPr>
              <a:spcBef>
                <a:spcPts val="400"/>
              </a:spcBef>
              <a:defRPr sz="1400"/>
            </a:pPr>
            <a:r>
              <a:t>Coordination du pipeline</a:t>
            </a:r>
          </a:p>
          <a:p>
            <a:pPr>
              <a:spcBef>
                <a:spcPts val="400"/>
              </a:spcBef>
              <a:defRPr sz="1400"/>
            </a:pPr>
            <a:r>
              <a:t>Enchaînement des étapes</a:t>
            </a:r>
          </a:p>
          <a:p>
            <a:pPr>
              <a:spcBef>
                <a:spcPts val="400"/>
              </a:spcBef>
              <a:defRPr sz="1400"/>
            </a:pPr>
            <a:r>
              <a:t>Gestion des erreurs</a:t>
            </a:r>
          </a:p>
          <a:p>
            <a:pPr>
              <a:spcBef>
                <a:spcPts val="400"/>
              </a:spcBef>
              <a:defRPr sz="1400"/>
            </a:pPr>
            <a:r>
              <a:t>Passage des paramètres</a:t>
            </a:r>
          </a:p>
          <a:p>
            <a:pPr>
              <a:spcBef>
                <a:spcPts val="400"/>
              </a:spcBef>
              <a:defRPr sz="1400"/>
            </a:pPr>
            <a:r>
              <a:t>extractor_agent.py : extraction et génération de fiche</a:t>
            </a:r>
          </a:p>
          <a:p>
            <a:pPr>
              <a:spcBef>
                <a:spcPts val="400"/>
              </a:spcBef>
              <a:defRPr sz="1400"/>
            </a:pPr>
            <a:r>
              <a:t>family_router_agent.py : détection famille métier</a:t>
            </a:r>
          </a:p>
          <a:p>
            <a:pPr>
              <a:spcBef>
                <a:spcPts val="400"/>
              </a:spcBef>
              <a:defRPr sz="1400"/>
            </a:pPr>
            <a:r>
              <a:t>subfamily_router_agent.py : détection sous-famille</a:t>
            </a:r>
          </a:p>
          <a:p>
            <a:pPr>
              <a:spcBef>
                <a:spcPts val="400"/>
              </a:spcBef>
              <a:defRPr sz="1400"/>
            </a:pPr>
            <a:r>
              <a:t>quality_agent.py : validation de la qualité</a:t>
            </a:r>
          </a:p>
          <a:p>
            <a:pPr>
              <a:spcBef>
                <a:spcPts val="400"/>
              </a:spcBef>
              <a:defRPr sz="1400"/>
            </a:pPr>
            <a:r>
              <a:t>market_benchmark_agent.py : analyse concurrentielle</a:t>
            </a:r>
          </a:p>
          <a:p>
            <a:pPr>
              <a:spcBef>
                <a:spcPts val="400"/>
              </a:spcBef>
              <a:defRPr sz="1400"/>
            </a:pPr>
            <a:r>
              <a:t>summary_agent.py : résumé exécutif</a:t>
            </a:r>
          </a:p>
          <a:p>
            <a:pPr>
              <a:spcBef>
                <a:spcPts val="400"/>
              </a:spcBef>
              <a:defRPr sz="1400"/>
            </a:pPr>
            <a:r>
              <a:t>scoring.py : calcul du score de qualification</a:t>
            </a:r>
          </a:p>
          <a:p>
            <a:pPr>
              <a:spcBef>
                <a:spcPts val="400"/>
              </a:spcBef>
              <a:defRPr sz="1400"/>
            </a:pPr>
            <a:r>
              <a:t>matching.py : scoring familles/sous-familles</a:t>
            </a:r>
          </a:p>
          <a:p>
            <a:pPr>
              <a:spcBef>
                <a:spcPts val="400"/>
              </a:spcBef>
              <a:defRPr sz="1400"/>
            </a:pPr>
            <a:r>
              <a:t>rules.py : règles métier et seuils</a:t>
            </a:r>
          </a:p>
          <a:p>
            <a:pPr>
              <a:spcBef>
                <a:spcPts val="400"/>
              </a:spcBef>
              <a:defRPr sz="1400"/>
            </a:pPr>
            <a:r>
              <a:t>schemas.py : validation des données</a:t>
            </a:r>
          </a:p>
          <a:p>
            <a:pPr>
              <a:spcBef>
                <a:spcPts val="400"/>
              </a:spcBef>
              <a:defRPr sz="1400"/>
            </a:pPr>
            <a:r>
              <a:t>validation.py : validation des entrées</a:t>
            </a:r>
          </a:p>
          <a:p>
            <a:pPr>
              <a:spcBef>
                <a:spcPts val="400"/>
              </a:spcBef>
              <a:defRPr sz="1400"/>
            </a:pPr>
            <a:r>
              <a:t>Fonctions utilitaires</a:t>
            </a:r>
          </a:p>
          <a:p>
            <a:pPr>
              <a:spcBef>
                <a:spcPts val="400"/>
              </a:spcBef>
              <a:defRPr sz="1400"/>
            </a:pPr>
            <a:r>
              <a:t>llm_service.py : intégration LLM (Groq)</a:t>
            </a:r>
          </a:p>
          <a:p>
            <a:pPr>
              <a:spcBef>
                <a:spcPts val="400"/>
              </a:spcBef>
              <a:defRPr sz="1400"/>
            </a:pPr>
            <a:r>
              <a:t>audio_service.py : transcription audio</a:t>
            </a:r>
          </a:p>
          <a:p>
            <a:pPr>
              <a:spcBef>
                <a:spcPts val="400"/>
              </a:spcBef>
              <a:defRPr sz="1400"/>
            </a:pPr>
            <a:r>
              <a:t>data_layer.py : taxonomie et données de référence</a:t>
            </a:r>
          </a:p>
          <a:p>
            <a:pPr>
              <a:spcBef>
                <a:spcPts val="400"/>
              </a:spcBef>
              <a:defRPr sz="1400"/>
            </a:pPr>
            <a:r>
              <a:t>Fichiers CSV : taxonomie AXA, référentiels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FLUX DE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400"/>
            </a:pPr>
            <a:r>
              <a:t>Entrée utilisateur ("Nous cherchons un chef de projet data senior...")</a:t>
            </a:r>
          </a:p>
          <a:p>
            <a:pPr>
              <a:spcBef>
                <a:spcPts val="400"/>
              </a:spcBef>
              <a:defRPr sz="1400"/>
            </a:pPr>
            <a:r>
              <a:t>│</a:t>
            </a:r>
          </a:p>
          <a:p>
            <a:pPr>
              <a:spcBef>
                <a:spcPts val="400"/>
              </a:spcBef>
              <a:defRPr sz="1400"/>
            </a:pPr>
            <a:r>
              <a:t>▼</a:t>
            </a:r>
          </a:p>
          <a:p>
            <a:pPr>
              <a:spcBef>
                <a:spcPts val="400"/>
              </a:spcBef>
              <a:defRPr sz="1400"/>
            </a:pPr>
            <a:r>
              <a:t>Validation (validation/validation.py)</a:t>
            </a:r>
          </a:p>
          <a:p>
            <a:pPr>
              <a:spcBef>
                <a:spcPts val="400"/>
              </a:spcBef>
              <a:defRPr sz="1400"/>
            </a:pPr>
            <a:r>
              <a:t>Vérification longueur minimale</a:t>
            </a:r>
          </a:p>
          <a:p>
            <a:pPr>
              <a:spcBef>
                <a:spcPts val="400"/>
              </a:spcBef>
              <a:defRPr sz="1400"/>
            </a:pPr>
            <a:r>
              <a:t>Nettoyage du texte</a:t>
            </a:r>
          </a:p>
          <a:p>
            <a:pPr>
              <a:spcBef>
                <a:spcPts val="400"/>
              </a:spcBef>
              <a:defRPr sz="1400"/>
            </a:pPr>
            <a:r>
              <a:t>│</a:t>
            </a:r>
          </a:p>
          <a:p>
            <a:pPr>
              <a:spcBef>
                <a:spcPts val="400"/>
              </a:spcBef>
              <a:defRPr sz="1400"/>
            </a:pPr>
            <a:r>
              <a:t>▼</a:t>
            </a:r>
          </a:p>
          <a:p>
            <a:pPr>
              <a:spcBef>
                <a:spcPts val="400"/>
              </a:spcBef>
              <a:defRPr sz="1400"/>
            </a:pPr>
            <a:r>
              <a:t>Pré-matching Python (domain/matching.py)</a:t>
            </a:r>
          </a:p>
          <a:p>
            <a:pPr>
              <a:spcBef>
                <a:spcPts val="400"/>
              </a:spcBef>
              <a:defRPr sz="1400"/>
            </a:pPr>
            <a:r>
              <a:t>Scoring sur 45 familles métier</a:t>
            </a:r>
          </a:p>
          <a:p>
            <a:pPr>
              <a:spcBef>
                <a:spcPts val="400"/>
              </a:spcBef>
              <a:defRPr sz="1400"/>
            </a:pPr>
            <a:r>
              <a:t>Seuil de confiance</a:t>
            </a:r>
          </a:p>
          <a:p>
            <a:pPr>
              <a:spcBef>
                <a:spcPts val="400"/>
              </a:spcBef>
              <a:defRPr sz="1400"/>
            </a:pPr>
            <a:r>
              <a:t>│</a:t>
            </a:r>
          </a:p>
          <a:p>
            <a:pPr>
              <a:spcBef>
                <a:spcPts val="400"/>
              </a:spcBef>
              <a:defRPr sz="1400"/>
            </a:pPr>
            <a:r>
              <a:t>▼</a:t>
            </a:r>
          </a:p>
          <a:p>
            <a:pPr>
              <a:spcBef>
                <a:spcPts val="400"/>
              </a:spcBef>
              <a:defRPr sz="1400"/>
            </a:pPr>
            <a:r>
              <a:t>Family Router Agent (agents/family_router_agent)</a:t>
            </a:r>
          </a:p>
          <a:p>
            <a:pPr>
              <a:spcBef>
                <a:spcPts val="400"/>
              </a:spcBef>
              <a:defRPr sz="1400"/>
            </a:pPr>
            <a:r>
              <a:t>Confirmation LLM si incertain</a:t>
            </a:r>
          </a:p>
          <a:p>
            <a:pPr>
              <a:spcBef>
                <a:spcPts val="400"/>
              </a:spcBef>
              <a:defRPr sz="1400"/>
            </a:pPr>
            <a:r>
              <a:t>Score de confiance</a:t>
            </a:r>
          </a:p>
          <a:p>
            <a:pPr>
              <a:spcBef>
                <a:spcPts val="400"/>
              </a:spcBef>
              <a:defRPr sz="1400"/>
            </a:pPr>
            <a:r>
              <a:t>│</a:t>
            </a:r>
          </a:p>
          <a:p>
            <a:pPr>
              <a:spcBef>
                <a:spcPts val="400"/>
              </a:spcBef>
              <a:defRPr sz="1400"/>
            </a:pPr>
            <a:r>
              <a:t>▼</a:t>
            </a:r>
          </a:p>
          <a:p>
            <a:pPr>
              <a:spcBef>
                <a:spcPts val="400"/>
              </a:spcBef>
              <a:defRPr sz="1400"/>
            </a:pPr>
            <a:r>
              <a:t>Sous-famille</a:t>
            </a:r>
          </a:p>
          <a:p>
            <a:pPr>
              <a:spcBef>
                <a:spcPts val="400"/>
              </a:spcBef>
              <a:defRPr sz="1400"/>
            </a:pPr>
            <a:r>
              <a:t>Scoring Python sur sous-familles</a:t>
            </a:r>
          </a:p>
          <a:p>
            <a:pPr>
              <a:spcBef>
                <a:spcPts val="400"/>
              </a:spcBef>
              <a:defRPr sz="1400"/>
            </a:pPr>
            <a:r>
              <a:t>Router LLM si nécessaire</a:t>
            </a:r>
          </a:p>
          <a:p>
            <a:pPr>
              <a:spcBef>
                <a:spcPts val="400"/>
              </a:spcBef>
              <a:defRPr sz="1400"/>
            </a:pPr>
            <a:r>
              <a:t>│</a:t>
            </a:r>
          </a:p>
          <a:p>
            <a:pPr>
              <a:spcBef>
                <a:spcPts val="400"/>
              </a:spcBef>
              <a:defRPr sz="1400"/>
            </a:pPr>
            <a:r>
              <a:t>▼</a:t>
            </a:r>
          </a:p>
          <a:p>
            <a:pPr>
              <a:spcBef>
                <a:spcPts val="400"/>
              </a:spcBef>
              <a:defRPr sz="1400"/>
            </a:pPr>
            <a:r>
              <a:t>Extractor Agent (agents/extractor_agent)</a:t>
            </a:r>
          </a:p>
          <a:p>
            <a:pPr>
              <a:spcBef>
                <a:spcPts val="400"/>
              </a:spcBef>
              <a:defRPr sz="1400"/>
            </a:pPr>
            <a:r>
              <a:t>Génération fiche de poste JSON</a:t>
            </a:r>
          </a:p>
          <a:p>
            <a:pPr>
              <a:spcBef>
                <a:spcPts val="400"/>
              </a:spcBef>
              <a:defRPr sz="1400"/>
            </a:pPr>
            <a:r>
              <a:t>Termes flous, informations manquantes</a:t>
            </a:r>
          </a:p>
          <a:p>
            <a:pPr>
              <a:spcBef>
                <a:spcPts val="400"/>
              </a:spcBef>
              <a:defRPr sz="1400"/>
            </a:pPr>
            <a:r>
              <a:t>Critères, questions d'entretien</a:t>
            </a:r>
          </a:p>
          <a:p>
            <a:pPr>
              <a:spcBef>
                <a:spcPts val="400"/>
              </a:spcBef>
              <a:defRPr sz="1400"/>
            </a:pPr>
            <a:r>
              <a:t>│</a:t>
            </a:r>
          </a:p>
          <a:p>
            <a:pPr>
              <a:spcBef>
                <a:spcPts val="400"/>
              </a:spcBef>
              <a:defRPr sz="1400"/>
            </a:pPr>
            <a:r>
              <a:t>▼</a:t>
            </a:r>
          </a:p>
          <a:p>
            <a:pPr>
              <a:spcBef>
                <a:spcPts val="400"/>
              </a:spcBef>
              <a:defRPr sz="1400"/>
            </a:pPr>
            <a:r>
              <a:t>Scoring (domain/scoring.py)</a:t>
            </a:r>
          </a:p>
          <a:p>
            <a:pPr>
              <a:spcBef>
                <a:spcPts val="400"/>
              </a:spcBef>
              <a:defRPr sz="1400"/>
            </a:pPr>
            <a:r>
              <a:t>5 dimensions (0-100 chacune)</a:t>
            </a:r>
          </a:p>
          <a:p>
            <a:pPr>
              <a:spcBef>
                <a:spcPts val="400"/>
              </a:spcBef>
              <a:defRPr sz="1400"/>
            </a:pPr>
            <a:r>
              <a:t>Score global et confiance</a:t>
            </a:r>
          </a:p>
          <a:p>
            <a:pPr>
              <a:spcBef>
                <a:spcPts val="400"/>
              </a:spcBef>
              <a:defRPr sz="1400"/>
            </a:pPr>
            <a:r>
              <a:t>Recommandations</a:t>
            </a:r>
          </a:p>
          <a:p>
            <a:pPr>
              <a:spcBef>
                <a:spcPts val="400"/>
              </a:spcBef>
              <a:defRPr sz="1400"/>
            </a:pPr>
            <a:r>
              <a:t>│</a:t>
            </a:r>
          </a:p>
          <a:p>
            <a:pPr>
              <a:spcBef>
                <a:spcPts val="400"/>
              </a:spcBef>
              <a:defRPr sz="1400"/>
            </a:pPr>
            <a:r>
              <a:t>▼</a:t>
            </a:r>
          </a:p>
          <a:p>
            <a:pPr>
              <a:spcBef>
                <a:spcPts val="400"/>
              </a:spcBef>
              <a:defRPr sz="1400"/>
            </a:pPr>
            <a:r>
              <a:t>Sortie</a:t>
            </a:r>
          </a:p>
          <a:p>
            <a:pPr>
              <a:spcBef>
                <a:spcPts val="400"/>
              </a:spcBef>
              <a:defRPr sz="1400"/>
            </a:pPr>
            <a:r>
              <a:t>Fiche AXA structurée</a:t>
            </a:r>
          </a:p>
          <a:p>
            <a:pPr>
              <a:spcBef>
                <a:spcPts val="400"/>
              </a:spcBef>
              <a:defRPr sz="1400"/>
            </a:pPr>
            <a:r>
              <a:t>Rapport de qualification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UTILISATION DE L'IA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500" b="1">
                <a:solidFill>
                  <a:srgbClr val="2C2C2C"/>
                </a:solidFill>
              </a:defRPr>
            </a:pPr>
            <a:r>
              <a:t>1. Détection famille : confirmer classification Python</a:t>
            </a:r>
          </a:p>
          <a:p>
            <a:pPr>
              <a:spcBef>
                <a:spcPts val="1000"/>
              </a:spcBef>
              <a:defRPr sz="1500" b="1">
                <a:solidFill>
                  <a:srgbClr val="2C2C2C"/>
                </a:solidFill>
              </a:defRPr>
            </a:pPr>
            <a:r>
              <a:t>2. Extraction : générer fiche structurée</a:t>
            </a:r>
          </a:p>
          <a:p>
            <a:pPr>
              <a:spcBef>
                <a:spcPts val="1000"/>
              </a:spcBef>
              <a:defRPr sz="1500" b="1">
                <a:solidFill>
                  <a:srgbClr val="2C2C2C"/>
                </a:solidFill>
              </a:defRPr>
            </a:pPr>
            <a:r>
              <a:t>3. Quality : valider structure et contenu</a:t>
            </a:r>
          </a:p>
          <a:p>
            <a:pPr>
              <a:spcBef>
                <a:spcPts val="1000"/>
              </a:spcBef>
              <a:defRPr sz="1500" b="1">
                <a:solidFill>
                  <a:srgbClr val="2C2C2C"/>
                </a:solidFill>
              </a:defRPr>
            </a:pPr>
            <a:r>
              <a:t>4. Benchmark : analyser le marché</a:t>
            </a:r>
          </a:p>
          <a:p>
            <a:pPr>
              <a:spcBef>
                <a:spcPts val="1000"/>
              </a:spcBef>
              <a:defRPr sz="1500" b="1">
                <a:solidFill>
                  <a:srgbClr val="2C2C2C"/>
                </a:solidFill>
              </a:defRPr>
            </a:pPr>
            <a:r>
              <a:t>5. Summary : résumer pour le recruteur</a:t>
            </a:r>
          </a:p>
          <a:p>
            <a:pPr>
              <a:spcBef>
                <a:spcPts val="400"/>
              </a:spcBef>
              <a:defRPr sz="1400"/>
            </a:pPr>
            <a:r>
              <a:t>Plusieurs agents spécialisés</a:t>
            </a:r>
          </a:p>
          <a:p>
            <a:pPr>
              <a:spcBef>
                <a:spcPts val="400"/>
              </a:spcBef>
              <a:defRPr sz="1400"/>
            </a:pPr>
            <a:r>
              <a:t>Chaque agent a une expertise précise</a:t>
            </a:r>
          </a:p>
          <a:p>
            <a:pPr>
              <a:spcBef>
                <a:spcPts val="400"/>
              </a:spcBef>
              <a:defRPr sz="1400"/>
            </a:pPr>
            <a:r>
              <a:t>Famille router : connaissance taxonomie</a:t>
            </a:r>
          </a:p>
          <a:p>
            <a:pPr>
              <a:spcBef>
                <a:spcPts val="400"/>
              </a:spcBef>
              <a:defRPr sz="1400"/>
            </a:pPr>
            <a:r>
              <a:t>Extractor : structuration de fiche</a:t>
            </a:r>
          </a:p>
          <a:p>
            <a:pPr>
              <a:spcBef>
                <a:spcPts val="400"/>
              </a:spcBef>
              <a:defRPr sz="1400"/>
            </a:pPr>
            <a:r>
              <a:t>Quality : validation de sortie</a:t>
            </a:r>
          </a:p>
          <a:p>
            <a:pPr>
              <a:spcBef>
                <a:spcPts val="400"/>
              </a:spcBef>
              <a:defRPr sz="1400"/>
            </a:pPr>
            <a:r>
              <a:t>Market benchmark : analyse concurrentielle</a:t>
            </a:r>
          </a:p>
          <a:p>
            <a:pPr>
              <a:spcBef>
                <a:spcPts val="400"/>
              </a:spcBef>
              <a:defRPr sz="1400"/>
            </a:pPr>
            <a:r>
              <a:t>Génération structurée (JSON)</a:t>
            </a:r>
          </a:p>
          <a:p>
            <a:pPr>
              <a:spcBef>
                <a:spcPts val="400"/>
              </a:spcBef>
              <a:defRPr sz="1400"/>
            </a:pPr>
            <a:r>
              <a:t>Sortie JSON stricte avec validation</a:t>
            </a:r>
          </a:p>
          <a:p>
            <a:pPr>
              <a:spcBef>
                <a:spcPts val="400"/>
              </a:spcBef>
              <a:defRPr sz="1400"/>
            </a:pPr>
            <a:r>
              <a:t>Chaînes LLM avec validation de structure</a:t>
            </a:r>
          </a:p>
          <a:p>
            <a:pPr>
              <a:spcBef>
                <a:spcPts val="400"/>
              </a:spcBef>
              <a:defRPr sz="1400"/>
            </a:pPr>
            <a:r>
              <a:t>Pas de texte libre non structuré</a:t>
            </a:r>
          </a:p>
          <a:p>
            <a:pPr>
              <a:spcBef>
                <a:spcPts val="400"/>
              </a:spcBef>
              <a:defRPr sz="1400"/>
            </a:pPr>
            <a:r>
              <a:t>Rôle du LLM dans chaque étape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LOGIQUE DE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500" b="1">
                <a:solidFill>
                  <a:srgbClr val="2C2C2C"/>
                </a:solidFill>
              </a:defRPr>
            </a:pPr>
            <a:r>
              <a:t>1. Complétude structurante (20 pts)</a:t>
            </a:r>
          </a:p>
          <a:p>
            <a:pPr>
              <a:spcBef>
                <a:spcPts val="1000"/>
              </a:spcBef>
              <a:defRPr sz="1500" b="1">
                <a:solidFill>
                  <a:srgbClr val="2C2C2C"/>
                </a:solidFill>
              </a:defRPr>
            </a:pPr>
            <a:r>
              <a:t>2. Précision du besoin (20 pts)</a:t>
            </a:r>
          </a:p>
          <a:p>
            <a:pPr>
              <a:spcBef>
                <a:spcPts val="1000"/>
              </a:spcBef>
              <a:defRPr sz="1500" b="1">
                <a:solidFill>
                  <a:srgbClr val="2C2C2C"/>
                </a:solidFill>
              </a:defRPr>
            </a:pPr>
            <a:r>
              <a:t>3. Exploitabilité screening (20 pts)</a:t>
            </a:r>
          </a:p>
          <a:p>
            <a:pPr>
              <a:spcBef>
                <a:spcPts val="1000"/>
              </a:spcBef>
              <a:defRPr sz="1500" b="1">
                <a:solidFill>
                  <a:srgbClr val="2C2C2C"/>
                </a:solidFill>
              </a:defRPr>
            </a:pPr>
            <a:r>
              <a:t>4. Clarté des missions (20 pts)</a:t>
            </a:r>
          </a:p>
          <a:p>
            <a:pPr>
              <a:spcBef>
                <a:spcPts val="1000"/>
              </a:spcBef>
              <a:defRPr sz="1500" b="1">
                <a:solidFill>
                  <a:srgbClr val="2C2C2C"/>
                </a:solidFill>
              </a:defRPr>
            </a:pPr>
            <a:r>
              <a:t>5. Conformité AXA (20 pts)</a:t>
            </a:r>
          </a:p>
          <a:p>
            <a:pPr>
              <a:spcBef>
                <a:spcPts val="400"/>
              </a:spcBef>
              <a:defRPr sz="1400"/>
            </a:pPr>
            <a:r>
              <a:t>5 Dimensions évaluées (chacune sur 20 points)</a:t>
            </a:r>
          </a:p>
          <a:p>
            <a:pPr>
              <a:spcBef>
                <a:spcPts val="400"/>
              </a:spcBef>
              <a:defRPr sz="1400"/>
            </a:pPr>
            <a:r>
              <a:t>Champs présents : intitulé, contrat, expérience, société, famille, localisation</a:t>
            </a:r>
          </a:p>
          <a:p>
            <a:pPr>
              <a:spcBef>
                <a:spcPts val="400"/>
              </a:spcBef>
              <a:defRPr sz="1400"/>
            </a:pPr>
            <a:r>
              <a:t>Pénalité pour informations manquantes critiques</a:t>
            </a:r>
          </a:p>
          <a:p>
            <a:pPr>
              <a:spcBef>
                <a:spcPts val="400"/>
              </a:spcBef>
              <a:defRPr sz="1400"/>
            </a:pPr>
            <a:r>
              <a:t>Nombre de termes flous détectés</a:t>
            </a:r>
          </a:p>
          <a:p>
            <a:pPr>
              <a:spcBef>
                <a:spcPts val="400"/>
              </a:spcBef>
              <a:defRPr sz="1400"/>
            </a:pPr>
            <a:r>
              <a:t>Informations critiques manquantes</a:t>
            </a:r>
          </a:p>
          <a:p>
            <a:pPr>
              <a:spcBef>
                <a:spcPts val="400"/>
              </a:spcBef>
              <a:defRPr sz="1400"/>
            </a:pPr>
            <a:r>
              <a:t>Contradictions</a:t>
            </a:r>
          </a:p>
          <a:p>
            <a:pPr>
              <a:spcBef>
                <a:spcPts val="400"/>
              </a:spcBef>
              <a:defRPr sz="1400"/>
            </a:pPr>
            <a:r>
              <a:t>Critères d'évaluation présents</a:t>
            </a:r>
          </a:p>
          <a:p>
            <a:pPr>
              <a:spcBef>
                <a:spcPts val="400"/>
              </a:spcBef>
              <a:defRPr sz="1400"/>
            </a:pPr>
            <a:r>
              <a:t>Éléments actionnables dans le profil</a:t>
            </a:r>
          </a:p>
          <a:p>
            <a:pPr>
              <a:spcBef>
                <a:spcPts val="400"/>
              </a:spcBef>
              <a:defRPr sz="1400"/>
            </a:pPr>
            <a:r>
              <a:t>Questions d'entretien</a:t>
            </a:r>
          </a:p>
          <a:p>
            <a:pPr>
              <a:spcBef>
                <a:spcPts val="400"/>
              </a:spcBef>
              <a:defRPr sz="1400"/>
            </a:pPr>
            <a:r>
              <a:t>Nombre de missions actionnables</a:t>
            </a:r>
          </a:p>
          <a:p>
            <a:pPr>
              <a:spcBef>
                <a:spcPts val="400"/>
              </a:spcBef>
              <a:defRPr sz="1400"/>
            </a:pPr>
            <a:r>
              <a:t>Spécificité vs langage générique</a:t>
            </a:r>
          </a:p>
          <a:p>
            <a:pPr>
              <a:spcBef>
                <a:spcPts val="400"/>
              </a:spcBef>
              <a:defRPr sz="1400"/>
            </a:pPr>
            <a:r>
              <a:t>Alignement structure AXA</a:t>
            </a:r>
          </a:p>
          <a:p>
            <a:pPr>
              <a:spcBef>
                <a:spcPts val="400"/>
              </a:spcBef>
              <a:defRPr sz="1400"/>
            </a:pPr>
            <a:r>
              <a:t>Sections requises présentes</a:t>
            </a:r>
          </a:p>
          <a:p>
            <a:pPr>
              <a:spcBef>
                <a:spcPts val="400"/>
              </a:spcBef>
              <a:defRPr sz="1400"/>
            </a:pPr>
            <a:r>
              <a:t>Score global : moyenne des 5 dimensions (0-100)</a:t>
            </a:r>
          </a:p>
          <a:p>
            <a:pPr>
              <a:spcBef>
                <a:spcPts val="400"/>
              </a:spcBef>
              <a:defRPr sz="1400"/>
            </a:pPr>
            <a:r>
              <a:t>Niveau de confiance : 25-95%</a:t>
            </a:r>
          </a:p>
          <a:p>
            <a:pPr>
              <a:spcBef>
                <a:spcPts val="400"/>
              </a:spcBef>
              <a:defRPr sz="1400"/>
            </a:pPr>
            <a:r>
              <a:t>Basé sur complétude et cohérence</a:t>
            </a:r>
          </a:p>
          <a:p>
            <a:pPr>
              <a:spcBef>
                <a:spcPts val="400"/>
              </a:spcBef>
              <a:defRPr sz="1400"/>
            </a:pPr>
            <a:r>
              <a:t>Faible : entrée incomplète/ambiguë</a:t>
            </a:r>
          </a:p>
          <a:p>
            <a:pPr>
              <a:spcBef>
                <a:spcPts val="400"/>
              </a:spcBef>
              <a:defRPr sz="1400"/>
            </a:pPr>
            <a:r>
              <a:t>Moyen : utile mais需validation RH</a:t>
            </a:r>
          </a:p>
          <a:p>
            <a:pPr>
              <a:spcBef>
                <a:spcPts val="400"/>
              </a:spcBef>
              <a:defRPr sz="1400"/>
            </a:pPr>
            <a:r>
              <a:t>Élevé : cohérent et opérationnel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POINTS FORTS DE LA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400"/>
            </a:pPr>
            <a:r>
              <a:t>Architecture modulaire</a:t>
            </a:r>
          </a:p>
          <a:p>
            <a:pPr>
              <a:spcBef>
                <a:spcPts val="400"/>
              </a:spcBef>
              <a:defRPr sz="1400"/>
            </a:pPr>
            <a:r>
              <a:t>Séparation claire des responsabilités</a:t>
            </a:r>
          </a:p>
          <a:p>
            <a:pPr>
              <a:spcBef>
                <a:spcPts val="400"/>
              </a:spcBef>
              <a:defRPr sz="1400"/>
            </a:pPr>
            <a:r>
              <a:t>Chaque agent est indépendant</a:t>
            </a:r>
          </a:p>
          <a:p>
            <a:pPr>
              <a:spcBef>
                <a:spcPts val="400"/>
              </a:spcBef>
              <a:defRPr sz="1400"/>
            </a:pPr>
            <a:r>
              <a:t>Facile à maintenir et faire évoluer</a:t>
            </a:r>
          </a:p>
          <a:p>
            <a:pPr>
              <a:spcBef>
                <a:spcPts val="400"/>
              </a:spcBef>
              <a:defRPr sz="1400"/>
            </a:pPr>
            <a:r>
              <a:t>Tests unitaires par composant</a:t>
            </a:r>
          </a:p>
          <a:p>
            <a:pPr>
              <a:spcBef>
                <a:spcPts val="400"/>
              </a:spcBef>
              <a:defRPr sz="1400"/>
            </a:pPr>
            <a:r>
              <a:t>Aide à la décision RH</a:t>
            </a:r>
          </a:p>
          <a:p>
            <a:pPr>
              <a:spcBef>
                <a:spcPts val="400"/>
              </a:spcBef>
              <a:defRPr sz="1400"/>
            </a:pPr>
            <a:r>
              <a:t>Score objectif de qualification</a:t>
            </a:r>
          </a:p>
          <a:p>
            <a:pPr>
              <a:spcBef>
                <a:spcPts val="400"/>
              </a:spcBef>
              <a:defRPr sz="1400"/>
            </a:pPr>
            <a:r>
              <a:t>Niveau de confiance explicite</a:t>
            </a:r>
          </a:p>
          <a:p>
            <a:pPr>
              <a:spcBef>
                <a:spcPts val="400"/>
              </a:spcBef>
              <a:defRPr sz="1400"/>
            </a:pPr>
            <a:r>
              <a:t>Recommandations actionnables</a:t>
            </a:r>
          </a:p>
          <a:p>
            <a:pPr>
              <a:spcBef>
                <a:spcPts val="400"/>
              </a:spcBef>
              <a:defRPr sz="1400"/>
            </a:pPr>
            <a:r>
              <a:t>Risques identifiés</a:t>
            </a:r>
          </a:p>
          <a:p>
            <a:pPr>
              <a:spcBef>
                <a:spcPts val="400"/>
              </a:spcBef>
              <a:defRPr sz="1400"/>
            </a:pPr>
            <a:r>
              <a:t>Automatisation intelligente</a:t>
            </a:r>
          </a:p>
          <a:p>
            <a:pPr>
              <a:spcBef>
                <a:spcPts val="400"/>
              </a:spcBef>
              <a:defRPr sz="1400"/>
            </a:pPr>
            <a:r>
              <a:t>Routing Python avant IA (rapide, économique)</a:t>
            </a:r>
          </a:p>
          <a:p>
            <a:pPr>
              <a:spcBef>
                <a:spcPts val="400"/>
              </a:spcBef>
              <a:defRPr sz="1400"/>
            </a:pPr>
            <a:r>
              <a:t>LLM seulement si nécessaire</a:t>
            </a:r>
          </a:p>
          <a:p>
            <a:pPr>
              <a:spcBef>
                <a:spcPts val="400"/>
              </a:spcBef>
              <a:defRPr sz="1400"/>
            </a:pPr>
            <a:r>
              <a:t>Qualité garantie par validation</a:t>
            </a:r>
          </a:p>
          <a:p>
            <a:pPr>
              <a:spcBef>
                <a:spcPts val="400"/>
              </a:spcBef>
              <a:defRPr sz="1400"/>
            </a:pPr>
            <a:r>
              <a:t>Erreur récupérable sans re-exécution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LIMITES ACTUELLES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400"/>
            </a:pPr>
            <a:r>
              <a:t>Dépendance au LLM</a:t>
            </a:r>
          </a:p>
          <a:p>
            <a:pPr>
              <a:spcBef>
                <a:spcPts val="400"/>
              </a:spcBef>
              <a:defRPr sz="1400"/>
            </a:pPr>
            <a:r>
              <a:t>Dépendance à un modèle externe (Groq/Llama)</a:t>
            </a:r>
          </a:p>
          <a:p>
            <a:pPr>
              <a:spcBef>
                <a:spcPts val="400"/>
              </a:spcBef>
              <a:defRPr sz="1400"/>
            </a:pPr>
            <a:r>
              <a:t>Risque d'évolution du comportement</a:t>
            </a:r>
          </a:p>
          <a:p>
            <a:pPr>
              <a:spcBef>
                <a:spcPts val="400"/>
              </a:spcBef>
              <a:defRPr sz="1400"/>
            </a:pPr>
            <a:r>
              <a:t>Potentiel d'hallucination (atténué par validation)</a:t>
            </a:r>
          </a:p>
          <a:p>
            <a:pPr>
              <a:spcBef>
                <a:spcPts val="400"/>
              </a:spcBef>
              <a:defRPr sz="1400"/>
            </a:pPr>
            <a:r>
              <a:t>Limites API</a:t>
            </a:r>
          </a:p>
          <a:p>
            <a:pPr>
              <a:spcBef>
                <a:spcPts val="400"/>
              </a:spcBef>
              <a:defRPr sz="1400"/>
            </a:pPr>
            <a:r>
              <a:t>Rate limits (requêtes/minute)</a:t>
            </a:r>
          </a:p>
          <a:p>
            <a:pPr>
              <a:spcBef>
                <a:spcPts val="400"/>
              </a:spcBef>
              <a:defRPr sz="1400"/>
            </a:pPr>
            <a:r>
              <a:t>Stratégie de fallback nécessaire</a:t>
            </a:r>
          </a:p>
          <a:p>
            <a:pPr>
              <a:spcBef>
                <a:spcPts val="400"/>
              </a:spcBef>
              <a:defRPr sz="1400"/>
            </a:pPr>
            <a:r>
              <a:t>File d'attente pour fort volume</a:t>
            </a:r>
          </a:p>
          <a:p>
            <a:pPr>
              <a:spcBef>
                <a:spcPts val="400"/>
              </a:spcBef>
              <a:defRPr sz="1400"/>
            </a:pPr>
            <a:r>
              <a:t>Absence d'intégration outils RH</a:t>
            </a:r>
          </a:p>
          <a:p>
            <a:pPr>
              <a:spcBef>
                <a:spcPts val="400"/>
              </a:spcBef>
              <a:defRPr sz="1400"/>
            </a:pPr>
            <a:r>
              <a:t>Entrée manuelle des données</a:t>
            </a:r>
          </a:p>
          <a:p>
            <a:pPr>
              <a:spcBef>
                <a:spcPts val="400"/>
              </a:spcBef>
              <a:defRPr sz="1400"/>
            </a:pPr>
            <a:r>
              <a:t>Pas de synchro ATS</a:t>
            </a:r>
          </a:p>
          <a:p>
            <a:pPr>
              <a:spcBef>
                <a:spcPts val="400"/>
              </a:spcBef>
              <a:defRPr sz="1400"/>
            </a:pPr>
            <a:r>
              <a:t>Pas de gestion des candidats</a:t>
            </a:r>
          </a:p>
          <a:p>
            <a:pPr>
              <a:spcBef>
                <a:spcPts val="400"/>
              </a:spcBef>
              <a:defRPr sz="1400"/>
            </a:pPr>
            <a:r>
              <a:t>Pas de génération d'offre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400"/>
            </a:pPr>
            <a:r>
              <a:t>Court terme (Q2-Q3 2026)</a:t>
            </a:r>
          </a:p>
          <a:p>
            <a:pPr>
              <a:spcBef>
                <a:spcPts val="400"/>
              </a:spcBef>
              <a:defRPr sz="1400"/>
            </a:pPr>
            <a:r>
              <a:t>Intégration ATS interne (Workday)</a:t>
            </a:r>
          </a:p>
          <a:p>
            <a:pPr>
              <a:spcBef>
                <a:spcPts val="400"/>
              </a:spcBef>
              <a:defRPr sz="1400"/>
            </a:pPr>
            <a:r>
              <a:t>Expansion taxonomie entreprise</a:t>
            </a:r>
          </a:p>
          <a:p>
            <a:pPr>
              <a:spcBef>
                <a:spcPts val="400"/>
              </a:spcBef>
              <a:defRPr sz="1400"/>
            </a:pPr>
            <a:r>
              <a:t>Support multi-langues</a:t>
            </a:r>
          </a:p>
          <a:p>
            <a:pPr>
              <a:spcBef>
                <a:spcPts val="400"/>
              </a:spcBef>
              <a:defRPr sz="1400"/>
            </a:pPr>
            <a:r>
              <a:t>Moyen terme (Q4 2026)</a:t>
            </a:r>
          </a:p>
          <a:p>
            <a:pPr>
              <a:spcBef>
                <a:spcPts val="400"/>
              </a:spcBef>
              <a:defRPr sz="1400"/>
            </a:pPr>
            <a:r>
              <a:t>Benchmark salarial temps réel</a:t>
            </a:r>
          </a:p>
          <a:p>
            <a:pPr>
              <a:spcBef>
                <a:spcPts val="400"/>
              </a:spcBef>
              <a:defRPr sz="1400"/>
            </a:pPr>
            <a:r>
              <a:t>Analyse concurrentielle automatique</a:t>
            </a:r>
          </a:p>
          <a:p>
            <a:pPr>
              <a:spcBef>
                <a:spcPts val="400"/>
              </a:spcBef>
              <a:defRPr sz="1400"/>
            </a:pPr>
            <a:r>
              <a:t>Algorithme de matching candidat</a:t>
            </a:r>
          </a:p>
          <a:p>
            <a:pPr>
              <a:spcBef>
                <a:spcPts val="400"/>
              </a:spcBef>
              <a:defRPr sz="1400"/>
            </a:pPr>
            <a:r>
              <a:t>Tableau de bord analytique</a:t>
            </a:r>
          </a:p>
          <a:p>
            <a:pPr>
              <a:spcBef>
                <a:spcPts val="400"/>
              </a:spcBef>
              <a:defRPr sz="1400"/>
            </a:pPr>
            <a:r>
              <a:t>Long terme (2027+)</a:t>
            </a:r>
          </a:p>
          <a:p>
            <a:pPr>
              <a:spcBef>
                <a:spcPts val="400"/>
              </a:spcBef>
              <a:defRPr sz="1400"/>
            </a:pPr>
            <a:r>
              <a:t>Modèle prédictif de succès</a:t>
            </a:r>
          </a:p>
          <a:p>
            <a:pPr>
              <a:spcBef>
                <a:spcPts val="400"/>
              </a:spcBef>
              <a:defRPr sz="1400"/>
            </a:pPr>
            <a:r>
              <a:t>Construction automatique du pipeline</a:t>
            </a:r>
          </a:p>
          <a:p>
            <a:pPr>
              <a:spcBef>
                <a:spcPts val="400"/>
              </a:spcBef>
              <a:defRPr sz="1400"/>
            </a:pPr>
            <a:r>
              <a:t>Planification entretien automatisée</a:t>
            </a:r>
          </a:p>
          <a:p>
            <a:pPr>
              <a:spcBef>
                <a:spcPts val="400"/>
              </a:spcBef>
              <a:defRPr sz="1400"/>
            </a:pPr>
            <a:r>
              <a:t>Automatisation complète du recrutement</a:t>
            </a:r>
          </a:p>
          <a:p>
            <a:pPr>
              <a:spcBef>
                <a:spcPts val="400"/>
              </a:spcBef>
              <a:defRPr sz="1400"/>
            </a:pPr>
            <a:r>
              <a:t>Optimisation</a:t>
            </a:r>
          </a:p>
          <a:p>
            <a:pPr>
              <a:spcBef>
                <a:spcPts val="400"/>
              </a:spcBef>
              <a:defRPr sz="1400"/>
            </a:pPr>
            <a:r>
              <a:t>Cache pour requêtes répétées</a:t>
            </a:r>
          </a:p>
          <a:p>
            <a:pPr>
              <a:spcBef>
                <a:spcPts val="400"/>
              </a:spcBef>
              <a:defRPr sz="1400"/>
            </a:pPr>
            <a:r>
              <a:t>Traitement par lots</a:t>
            </a:r>
          </a:p>
          <a:p>
            <a:pPr>
              <a:spcBef>
                <a:spcPts val="400"/>
              </a:spcBef>
              <a:defRPr sz="1400"/>
            </a:pPr>
            <a:r>
              <a:t>Modèle fine-tuné personnalisé</a:t>
            </a:r>
          </a:p>
          <a:p>
            <a:pPr>
              <a:spcBef>
                <a:spcPts val="400"/>
              </a:spcBef>
              <a:defRPr sz="1400"/>
            </a:pPr>
            <a:r>
              <a:t>================================================================================</a:t>
            </a:r>
          </a:p>
          <a:p>
            <a:pPr>
              <a:spcBef>
                <a:spcPts val="400"/>
              </a:spcBef>
              <a:defRPr sz="1400"/>
            </a:pPr>
            <a:r>
              <a:t>FIN DE LA PRÉSENTATION</a:t>
            </a:r>
          </a:p>
          <a:p>
            <a:pPr>
              <a:spcBef>
                <a:spcPts val="400"/>
              </a:spcBef>
              <a:defRPr sz="1400"/>
            </a:pPr>
            <a:r>
              <a:t>================================================================================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